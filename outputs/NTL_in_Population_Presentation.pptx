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0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NTL in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Estimation of Population of Pakistan from Nighttime Light Imagery for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3840480"/>
            <a:ext cx="1554480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AI Application Course  |  ResNet-18 + GHSL Built-Up Volume  |  Pearson R = 0.881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647" y="505460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Team: </a:t>
            </a:r>
            <a:r>
              <a:rPr lang="en-GB" dirty="0"/>
              <a:t>LS2525242 </a:t>
            </a:r>
            <a:r>
              <a:rPr lang="en-GB" dirty="0" err="1"/>
              <a:t>Tokhirjon</a:t>
            </a:r>
            <a:r>
              <a:rPr lang="en-GB" dirty="0"/>
              <a:t> Teshaboev; LS2525241 Rasul Anvar; LS2525266 Elattar Mohamed Mostafa Mohamed Ahmed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097280"/>
            <a:ext cx="3086947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Traditional censuses are expensive and infrequent. Satellite nighttime lights (NTL) offer a scalable alternative, but suffer from two critical failure modes: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Segoe UI"/>
              </a:defRPr>
            </a:pPr>
            <a:r>
              <a:t>1. Rural Underprediction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Dark rural regions correlate weakly with sparse agricultural populations. Low luminosity does not mean zero people.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2. Urban Saturation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A dense Karachi slum and a dense high-rise district can have identical NTL radiance. Lights cannot distinguish 2D from 3D density.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Our solution: fuse temporal NTL sequences with GHSL built-up surface AND building volume to break the saturation ceiling.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731519" y="1051560"/>
            <a:ext cx="3171614" cy="457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014" y="1583175"/>
            <a:ext cx="2737510" cy="504613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0454" y="1677063"/>
            <a:ext cx="2566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5094" y="1583175"/>
            <a:ext cx="3421888" cy="504613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66534" y="1677063"/>
            <a:ext cx="32507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2694" y="1583175"/>
            <a:ext cx="2566416" cy="504613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4134" y="1677063"/>
            <a:ext cx="2395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75894" y="1583175"/>
            <a:ext cx="2566416" cy="504613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67334" y="1677063"/>
            <a:ext cx="2395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014" y="2177535"/>
            <a:ext cx="2737510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0454" y="2269099"/>
            <a:ext cx="25664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Nighttime Lights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75094" y="2177535"/>
            <a:ext cx="3421888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66534" y="2269099"/>
            <a:ext cx="325079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NOAA VIIRS monthly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32694" y="217753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24134" y="226909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500m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75894" y="217753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67334" y="226909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2020-2025 (72 months)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014" y="2771895"/>
            <a:ext cx="2737510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0454" y="2863459"/>
            <a:ext cx="25664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Population (GT)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75094" y="2771895"/>
            <a:ext cx="3421888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66534" y="2863459"/>
            <a:ext cx="325079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WorldPop 2025 R2025A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2694" y="277189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24134" y="286345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100m -&gt; 500m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5894" y="277189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67334" y="286345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014" y="3366255"/>
            <a:ext cx="2737510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0454" y="3457819"/>
            <a:ext cx="25664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Built-Up Surface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75094" y="3366255"/>
            <a:ext cx="3421888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66534" y="3457819"/>
            <a:ext cx="325079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GHSL GHS-BUILT-S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2694" y="336625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24134" y="345781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100m -&gt; 500m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894" y="336625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67334" y="345781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2020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9014" y="3960615"/>
            <a:ext cx="2737510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0454" y="4052179"/>
            <a:ext cx="25664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Built-Up Volume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75094" y="3960615"/>
            <a:ext cx="3421888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66534" y="4052179"/>
            <a:ext cx="325079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GHSL GHS-BUILT-V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32694" y="396061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24134" y="405217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100m -&gt; 500m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75894" y="3960615"/>
            <a:ext cx="2566416" cy="50461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67334" y="4052179"/>
            <a:ext cx="23953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076613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All </a:t>
            </a:r>
            <a:r>
              <a:rPr dirty="0" err="1"/>
              <a:t>rasters</a:t>
            </a:r>
            <a:r>
              <a:rPr dirty="0"/>
              <a:t> aligned to common 500m WGS84 grid via </a:t>
            </a:r>
            <a:r>
              <a:rPr dirty="0" err="1"/>
              <a:t>rasterio.warp.reproject</a:t>
            </a:r>
            <a:r>
              <a:rPr dirty="0"/>
              <a:t>  |  4,225 valid 32x32 patches extracted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4107" y="685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4653" y="676910"/>
            <a:ext cx="4572000" cy="457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C3A656-A435-889D-2A39-B5B2FF19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85" b="49685"/>
          <a:stretch>
            <a:fillRect/>
          </a:stretch>
        </p:blipFill>
        <p:spPr>
          <a:xfrm>
            <a:off x="1153740" y="780765"/>
            <a:ext cx="9868155" cy="5845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17D618-3755-AE43-A498-9049B78914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900A2-5171-7132-3DC9-3AE3979EA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94" b="8200"/>
          <a:stretch>
            <a:fillRect/>
          </a:stretch>
        </p:blipFill>
        <p:spPr>
          <a:xfrm>
            <a:off x="920536" y="938097"/>
            <a:ext cx="10633473" cy="54442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7444F8-A53D-7A04-162D-6CF4DC64DF89}"/>
              </a:ext>
            </a:extLst>
          </p:cNvPr>
          <p:cNvSpPr txBox="1"/>
          <p:nvPr/>
        </p:nvSpPr>
        <p:spPr>
          <a:xfrm>
            <a:off x="684107" y="685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Model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C0C50-57A0-72A0-83B0-CF19291D356A}"/>
              </a:ext>
            </a:extLst>
          </p:cNvPr>
          <p:cNvSpPr/>
          <p:nvPr/>
        </p:nvSpPr>
        <p:spPr>
          <a:xfrm>
            <a:off x="824653" y="676910"/>
            <a:ext cx="4572000" cy="457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2576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Ablation Study: What Makes the Difference?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051560"/>
            <a:ext cx="9750213" cy="457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8004" y="1316736"/>
            <a:ext cx="347472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3724" y="14264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2724" y="1316736"/>
            <a:ext cx="164592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8444" y="14264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Channels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8644" y="1316736"/>
            <a:ext cx="128016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24364" y="142646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Pretrained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8804" y="1316736"/>
            <a:ext cx="109728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04524" y="142646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56084" y="1316736"/>
            <a:ext cx="91440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01804" y="142646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0484" y="1316736"/>
            <a:ext cx="164592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16204" y="14264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Urban Core Bias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8004" y="1819656"/>
            <a:ext cx="3474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3724" y="1929384"/>
            <a:ext cx="333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2724" y="181965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8444" y="192938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644" y="1819656"/>
            <a:ext cx="1280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4364" y="192938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8804" y="1819656"/>
            <a:ext cx="109728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04524" y="1929384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MSE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6084" y="1819656"/>
            <a:ext cx="9144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01804" y="1929384"/>
            <a:ext cx="822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0.642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0484" y="181965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16204" y="192938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8004" y="2322576"/>
            <a:ext cx="3474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3724" y="2432304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pretrained_huber</a:t>
            </a:r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4532724" y="232257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8444" y="243230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8644" y="2322576"/>
            <a:ext cx="1280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24364" y="243230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8804" y="2322576"/>
            <a:ext cx="109728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04524" y="2432304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Huber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56084" y="2322576"/>
            <a:ext cx="9144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01804" y="2432304"/>
            <a:ext cx="822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0.767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70484" y="232257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16204" y="243230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8004" y="2825496"/>
            <a:ext cx="3474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03724" y="2935224"/>
            <a:ext cx="333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pretrained_ghsl_channel_huber</a:t>
            </a:r>
            <a:endParaRPr dirty="0"/>
          </a:p>
        </p:txBody>
      </p:sp>
      <p:sp>
        <p:nvSpPr>
          <p:cNvPr id="43" name="Rectangle 42"/>
          <p:cNvSpPr/>
          <p:nvPr/>
        </p:nvSpPr>
        <p:spPr>
          <a:xfrm>
            <a:off x="4532724" y="282549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8444" y="29352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3 (surface)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8644" y="2825496"/>
            <a:ext cx="1280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24364" y="293522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8804" y="2825496"/>
            <a:ext cx="109728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04524" y="2935224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Huber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56084" y="2825496"/>
            <a:ext cx="9144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01804" y="2935224"/>
            <a:ext cx="822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0.875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70484" y="282549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16204" y="29352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-56.8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8004" y="3328416"/>
            <a:ext cx="3474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03724" y="3438144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pretrained_ghsl_vol_channel_huber</a:t>
            </a:r>
            <a:endParaRPr dirty="0"/>
          </a:p>
        </p:txBody>
      </p:sp>
      <p:sp>
        <p:nvSpPr>
          <p:cNvPr id="55" name="Rectangle 54"/>
          <p:cNvSpPr/>
          <p:nvPr/>
        </p:nvSpPr>
        <p:spPr>
          <a:xfrm>
            <a:off x="4532724" y="332841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8444" y="343814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3 (volume)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8644" y="3328416"/>
            <a:ext cx="1280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24364" y="343814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58804" y="3328416"/>
            <a:ext cx="109728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04524" y="3438144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Huber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56084" y="3328416"/>
            <a:ext cx="9144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01804" y="3438144"/>
            <a:ext cx="822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0.612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70484" y="3328416"/>
            <a:ext cx="1645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516204" y="343814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-113.6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8004" y="3831336"/>
            <a:ext cx="347472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03724" y="3941064"/>
            <a:ext cx="333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rPr dirty="0" err="1"/>
              <a:t>pretrained_ghsl_surface_vol_channel_huber</a:t>
            </a:r>
            <a:endParaRPr dirty="0"/>
          </a:p>
        </p:txBody>
      </p:sp>
      <p:sp>
        <p:nvSpPr>
          <p:cNvPr id="67" name="Rectangle 66"/>
          <p:cNvSpPr/>
          <p:nvPr/>
        </p:nvSpPr>
        <p:spPr>
          <a:xfrm>
            <a:off x="4532724" y="3831336"/>
            <a:ext cx="164592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8444" y="39410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4 (surf+vol)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8644" y="3831336"/>
            <a:ext cx="128016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24364" y="3941064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58804" y="3831336"/>
            <a:ext cx="109728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04524" y="3941064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Huber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56084" y="3831336"/>
            <a:ext cx="91440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601804" y="3941064"/>
            <a:ext cx="868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rPr dirty="0"/>
              <a:t>0.881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70484" y="3831336"/>
            <a:ext cx="1645920" cy="502920"/>
          </a:xfrm>
          <a:prstGeom prst="rect">
            <a:avLst/>
          </a:prstGeom>
          <a:solidFill>
            <a:srgbClr val="143228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516204" y="39410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-28.2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Segoe UI"/>
              </a:defRPr>
            </a:pPr>
            <a:r>
              <a:t>Key Insight: Building Volume ALONE hurts (R=0.612) because tall rural structures misclassify as urban. But Surface + Volume together creates synergy — volume provides 3D context that breaks NTL saturation.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Best Model: </a:t>
            </a:r>
            <a:r>
              <a:rPr dirty="0" err="1"/>
              <a:t>pretrained_ghsl_surface_vol_channel_huber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19" y="1005840"/>
            <a:ext cx="2460414" cy="457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2387" y="1691640"/>
            <a:ext cx="50292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6707" y="1828800"/>
            <a:ext cx="448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0.881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6707" y="2331720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Overall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6707" y="26060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Highest spatial correlation 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8787" y="1691640"/>
            <a:ext cx="50292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3107" y="1828800"/>
            <a:ext cx="448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2.24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3107" y="2331720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Overall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3107" y="26060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People per 500m pixel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387" y="3154680"/>
            <a:ext cx="50292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6707" y="3291840"/>
            <a:ext cx="448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1.012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6707" y="3794760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Scale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6707" y="4069080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Essentially exact national total</a:t>
            </a:r>
            <a:endParaRPr lang="en-GB" dirty="0"/>
          </a:p>
        </p:txBody>
      </p:sp>
      <p:sp>
        <p:nvSpPr>
          <p:cNvPr id="17" name="Rounded Rectangle 16"/>
          <p:cNvSpPr/>
          <p:nvPr/>
        </p:nvSpPr>
        <p:spPr>
          <a:xfrm>
            <a:off x="6378787" y="3154680"/>
            <a:ext cx="50292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3107" y="3291840"/>
            <a:ext cx="448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0.958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3107" y="3794760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Rural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3107" y="4069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Nearly perfect correlation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03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Density Breakdown: Rural (&lt;20) MAE=0.93, R=0.958  |  Peri-urban (20-100) MAE=6.71, R=0.889  |  Urban core (&gt;100) MAE=60.65, R=0.339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Live Demo: </a:t>
            </a:r>
            <a:r>
              <a:rPr dirty="0" err="1"/>
              <a:t>Streamlit</a:t>
            </a:r>
            <a:r>
              <a:rPr dirty="0"/>
              <a:t>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6050280" cy="457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Interactive web application for region selection, real-time prediction, and explainability.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Segoe UI"/>
              </a:defRPr>
            </a:pPr>
            <a:r>
              <a:t>🗺️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Interactive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Draw a rectangle over any region in Pakistan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Real-Time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4-channel CNN inference in &lt; 2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Data Quality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5-dimension scorecard with explanations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Segoe UI"/>
              </a:defRPr>
            </a:pPr>
            <a:r>
              <a:t>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Grad-CAM Heatmap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See which pixels drive the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Segoe UI"/>
              </a:defRPr>
            </a:pPr>
            <a: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RAG Literature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8 academic papers indexed for grounding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097280"/>
            <a:ext cx="2705947" cy="457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554480"/>
            <a:ext cx="137160" cy="1371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Fusing temporal NTL with 3D built-up structure yields R = 0.88 — state-of-the-art for Pakistan at 500m resolution.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137160" cy="1371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ImageNet pretraining (+0.24 R) and Huber loss are the biggest performance levers.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00400"/>
            <a:ext cx="137160" cy="1371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GHSL building volume only works when paired with surface context — volume alone confuses the model.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23360"/>
            <a:ext cx="137160" cy="1371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The fully interactive </a:t>
            </a:r>
            <a:r>
              <a:rPr dirty="0" err="1"/>
              <a:t>Streamlit</a:t>
            </a:r>
            <a:r>
              <a:rPr dirty="0"/>
              <a:t> app brings the research to life for end users.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Future Work: Stratified CV stability  |  NASA Black Marble NTL  |  OSM road density as 5th channel  |  Transfer to India/Bangladesh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3500B0-3830-85B8-4322-5C4C08C6074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D31E2F-3C8B-EA31-C4F8-78322830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13" b="35679"/>
          <a:stretch>
            <a:fillRect/>
          </a:stretch>
        </p:blipFill>
        <p:spPr>
          <a:xfrm>
            <a:off x="336492" y="-1"/>
            <a:ext cx="11519016" cy="683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6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017520"/>
            <a:ext cx="1554480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BD5E1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Team: </a:t>
            </a:r>
            <a:r>
              <a:rPr lang="en-GB" dirty="0"/>
              <a:t>LS2525242 </a:t>
            </a:r>
            <a:r>
              <a:rPr lang="en-GB" dirty="0" err="1"/>
              <a:t>Tokhirjon</a:t>
            </a:r>
            <a:r>
              <a:rPr lang="en-GB" dirty="0"/>
              <a:t> Teshaboev - </a:t>
            </a:r>
            <a:r>
              <a:rPr dirty="0"/>
              <a:t>Data Engineering  | </a:t>
            </a:r>
            <a:r>
              <a:rPr lang="en-GB" dirty="0"/>
              <a:t>LS2525241 Rasul Anvar</a:t>
            </a:r>
            <a:r>
              <a:rPr dirty="0"/>
              <a:t> </a:t>
            </a:r>
            <a:r>
              <a:rPr lang="en-GB" dirty="0"/>
              <a:t>- </a:t>
            </a:r>
            <a:r>
              <a:rPr dirty="0"/>
              <a:t>Model Engineering  </a:t>
            </a:r>
            <a:br>
              <a:rPr lang="en-GB" dirty="0"/>
            </a:br>
            <a:r>
              <a:rPr lang="en-GB" dirty="0"/>
              <a:t>LS2525266 Elattar Mohamed Mostafa Mohamed Ahmed</a:t>
            </a:r>
            <a:r>
              <a:rPr dirty="0"/>
              <a:t> </a:t>
            </a:r>
            <a:r>
              <a:rPr lang="en-GB" dirty="0"/>
              <a:t>-</a:t>
            </a:r>
            <a:r>
              <a:rPr dirty="0"/>
              <a:t> Evaluation &amp; Application</a:t>
            </a:r>
            <a:endParaRPr lang="en-GB" dirty="0"/>
          </a:p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5035209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Code: github.com/</a:t>
            </a:r>
            <a:r>
              <a:rPr lang="en-GB" sz="1300" dirty="0" err="1"/>
              <a:t>gistechnophile</a:t>
            </a:r>
            <a:r>
              <a:rPr lang="en-GB" sz="1300" dirty="0"/>
              <a:t>/AI-project-on-NTL</a:t>
            </a:r>
            <a:r>
              <a:rPr dirty="0"/>
              <a:t> |  Report: PROJECT_REPORT.md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3316</TotalTime>
  <Words>614</Words>
  <Application>Microsoft Office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Toxir Teshaboev</cp:lastModifiedBy>
  <cp:revision>4</cp:revision>
  <dcterms:created xsi:type="dcterms:W3CDTF">2013-01-27T09:14:16Z</dcterms:created>
  <dcterms:modified xsi:type="dcterms:W3CDTF">2026-04-21T11:09:37Z</dcterms:modified>
  <cp:category/>
</cp:coreProperties>
</file>