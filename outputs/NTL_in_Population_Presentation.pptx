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4572000"/>
            <a:ext cx="3200400" cy="32004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NTL in Population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Segoe UI"/>
              </a:defRPr>
            </a:pPr>
            <a:r>
              <a:t>Estimation of Population of Pakistan from Nighttime Light Imagery for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0" y="3840480"/>
            <a:ext cx="1554480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AI Application Course  |  ResNet-18 + GHSL Built-Up Volume  |  Pearson R = 0.881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Team: [Author 1  Data Engineering]  |  [Author 2  Model Engineering]  |  [Author 3  Evaluation &amp; Application]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97280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Segoe UI"/>
              </a:defRPr>
            </a:pPr>
            <a:r>
              <a:t>Traditional censuses are expensive and infrequent. Satellite nighttime lights (NTL) offer a scalable alternative, but suffer from two critical failure modes: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502920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0A5FA"/>
                </a:solidFill>
                <a:latin typeface="Segoe UI"/>
              </a:defRPr>
            </a:pPr>
            <a:r>
              <a:t>1. Rural Underprediction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4480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Segoe UI"/>
              </a:defRPr>
            </a:pPr>
            <a:r>
              <a:t>Dark rural regions correlate weakly with sparse agricultural populations. Low luminosity does not mean zero people.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560320"/>
            <a:ext cx="502920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78BFA"/>
                </a:solidFill>
                <a:latin typeface="Segoe UI"/>
              </a:defRPr>
            </a:pPr>
            <a:r>
              <a:t>2. Urban Saturation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200400"/>
            <a:ext cx="4480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Segoe UI"/>
              </a:defRPr>
            </a:pPr>
            <a:r>
              <a:t>A dense Karachi slum and a dense high-rise district can have identical NTL radiance. Lights cannot distinguish 2D from 3D density.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37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Segoe UI"/>
              </a:defRPr>
            </a:pPr>
            <a:r>
              <a:t>Our solution: fuse temporal NTL sequences with GHSL built-up surface AND building volume to break the saturation ceiling.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Segoe UI"/>
              </a:defRPr>
            </a:pPr>
            <a:r>
              <a:t>Data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371600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926080" cy="5943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463040"/>
            <a:ext cx="3657600" cy="5943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6002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463040"/>
            <a:ext cx="2743200" cy="5943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16002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1463040"/>
            <a:ext cx="2743200" cy="5943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0" y="16002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057400"/>
            <a:ext cx="292608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19456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Nighttime 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2057400"/>
            <a:ext cx="36576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0" y="219456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NOAA VIIRS monthly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2057400"/>
            <a:ext cx="27432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194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500m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0" y="2057400"/>
            <a:ext cx="27432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2194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2020-2025 (72 months)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651760"/>
            <a:ext cx="292608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7889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Population (GT)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2651760"/>
            <a:ext cx="36576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40" y="27889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WorldPop 2025 R2025A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651760"/>
            <a:ext cx="27432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27889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100m -&gt; 500m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0" y="2651760"/>
            <a:ext cx="27432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0" y="27889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2025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246120"/>
            <a:ext cx="292608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38328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Built-Up Surface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3246120"/>
            <a:ext cx="36576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338328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GHSL GHS-BUILT-S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3246120"/>
            <a:ext cx="27432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0" y="338328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100m -&gt; 500m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0" y="3246120"/>
            <a:ext cx="27432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0" y="338328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2020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3840480"/>
            <a:ext cx="292608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39776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Built-Up Volume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840480"/>
            <a:ext cx="36576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40" y="397764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GHSL GHS-BUILT-V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3840480"/>
            <a:ext cx="27432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0" y="39776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100m -&gt; 500m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58400" y="3840480"/>
            <a:ext cx="2743200" cy="5943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49840" y="39776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2020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All rasters aligned to common 500m WGS84 grid via rasterio.warp.reproject  |  4,225 valid 32x32 patches extracted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Segoe UI"/>
              </a:defRPr>
            </a:pPr>
            <a:r>
              <a:t>Model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828800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0" y="1463040"/>
            <a:ext cx="4114800" cy="64008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1600200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D5E1"/>
                </a:solidFill>
                <a:latin typeface="Segoe UI"/>
              </a:defRPr>
            </a:pPr>
            <a:r>
              <a:t>Input: (B, T, C, 32, 32)  C=4 channels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2194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Segoe UI"/>
              </a:defRPr>
            </a:pPr>
            <a: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560320"/>
            <a:ext cx="4114800" cy="640080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697480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Shared ResNet-18 Encoder (ImageNet pretrained)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3291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Segoe UI"/>
              </a:defRPr>
            </a:pPr>
            <a:r>
              <a:t>-&gt;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3657600"/>
            <a:ext cx="4114800" cy="64008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3794760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1D Temporal Conv  (512 -&gt; 128 -&gt; 128) + AdaptiveAvgPool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4389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Segoe UI"/>
              </a:defRPr>
            </a:pPr>
            <a:r>
              <a:t>-&gt;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4754880"/>
            <a:ext cx="4114800" cy="64008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4892040"/>
            <a:ext cx="374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D5E1"/>
                </a:solidFill>
                <a:latin typeface="Segoe UI"/>
              </a:defRPr>
            </a:pPr>
            <a:r>
              <a:t>Regression Head: Linear(128 -&gt; 1)  clamp [-2, 16]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577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0A5FA"/>
                </a:solidFill>
                <a:latin typeface="Segoe UI"/>
              </a:defRPr>
            </a:pPr>
            <a:r>
              <a:t>Output: log1p(population per 500m patch)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6459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4-Channel Input: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0" y="2103120"/>
            <a:ext cx="182880" cy="18288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2057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Ch 1: NTL (monthly)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2560320"/>
            <a:ext cx="182880" cy="18288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2514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Ch 2: POP proxy (WorldPop)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017520"/>
            <a:ext cx="182880" cy="1828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2971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Ch 3: GHSL Built-Up Surface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474720"/>
            <a:ext cx="182880" cy="18288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3429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Ch 4: GHSL Built-Up Volume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Ablation Study: What Makes the Difference?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74720" cy="5029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Experiment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371600"/>
            <a:ext cx="1645920" cy="5029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48132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Channels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0" y="1371600"/>
            <a:ext cx="1280160" cy="5029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148132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Pretrained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371600"/>
            <a:ext cx="1097280" cy="5029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148132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Loss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371600"/>
            <a:ext cx="914400" cy="5029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481328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371600"/>
            <a:ext cx="1645920" cy="5029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48132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Urban Core Bias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1874520"/>
            <a:ext cx="34747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984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baseline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1874520"/>
            <a:ext cx="16459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1984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874520"/>
            <a:ext cx="128016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0" y="1984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1874520"/>
            <a:ext cx="109728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984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MSE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874520"/>
            <a:ext cx="91440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1984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0.642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1874520"/>
            <a:ext cx="16459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98424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377440"/>
            <a:ext cx="34747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48716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pretrained_huber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377440"/>
            <a:ext cx="16459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9080" y="248716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2377440"/>
            <a:ext cx="128016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15000" y="248716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2377440"/>
            <a:ext cx="109728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248716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Huber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377440"/>
            <a:ext cx="91440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2440" y="248716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0.767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61120" y="2377440"/>
            <a:ext cx="16459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248716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2880360"/>
            <a:ext cx="34747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99008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pretrained_ghsl_channel_huber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60" y="2880360"/>
            <a:ext cx="16459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9080" y="299008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3 (surface)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0" y="2880360"/>
            <a:ext cx="128016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15000" y="299008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49440" y="2880360"/>
            <a:ext cx="109728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95160" y="299008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Huber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2880360"/>
            <a:ext cx="91440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92440" y="299008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0.875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61120" y="2880360"/>
            <a:ext cx="16459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06840" y="299008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-56.8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383280"/>
            <a:ext cx="34747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34930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pretrained_ghsl_vol_channel_huber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383280"/>
            <a:ext cx="16459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69080" y="34930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3 (volume)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0" y="3383280"/>
            <a:ext cx="128016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15000" y="34930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9440" y="3383280"/>
            <a:ext cx="109728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95160" y="34930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Huber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46720" y="3383280"/>
            <a:ext cx="91440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92440" y="34930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0.612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0" y="3383280"/>
            <a:ext cx="1645920" cy="502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34930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-113.6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" y="3886200"/>
            <a:ext cx="3474720" cy="502920"/>
          </a:xfrm>
          <a:prstGeom prst="rect">
            <a:avLst/>
          </a:prstGeom>
          <a:solidFill>
            <a:srgbClr val="143228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4360" y="399592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pretrained_ghsl_surface_vol_channel_huber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23360" y="3886200"/>
            <a:ext cx="1645920" cy="502920"/>
          </a:xfrm>
          <a:prstGeom prst="rect">
            <a:avLst/>
          </a:prstGeom>
          <a:solidFill>
            <a:srgbClr val="143228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69080" y="399592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4 (surf+vol)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0" y="3886200"/>
            <a:ext cx="1280160" cy="502920"/>
          </a:xfrm>
          <a:prstGeom prst="rect">
            <a:avLst/>
          </a:prstGeom>
          <a:solidFill>
            <a:srgbClr val="143228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715000" y="399592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49440" y="3886200"/>
            <a:ext cx="1097280" cy="502920"/>
          </a:xfrm>
          <a:prstGeom prst="rect">
            <a:avLst/>
          </a:prstGeom>
          <a:solidFill>
            <a:srgbClr val="143228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95160" y="399592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Huber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46720" y="3886200"/>
            <a:ext cx="914400" cy="502920"/>
          </a:xfrm>
          <a:prstGeom prst="rect">
            <a:avLst/>
          </a:prstGeom>
          <a:solidFill>
            <a:srgbClr val="143228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92440" y="399592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0.881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61120" y="3886200"/>
            <a:ext cx="1645920" cy="502920"/>
          </a:xfrm>
          <a:prstGeom prst="rect">
            <a:avLst/>
          </a:prstGeom>
          <a:solidFill>
            <a:srgbClr val="143228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06840" y="399592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D399"/>
                </a:solidFill>
                <a:latin typeface="Segoe UI"/>
              </a:defRPr>
            </a:pPr>
            <a:r>
              <a:t>-28.2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Segoe UI"/>
              </a:defRPr>
            </a:pPr>
            <a:r>
              <a:t>Key Insight: Building Volume ALONE hurts (R=0.612) because tall rural structures misclassify as urban. But Surface + Volume together creates synergy — volume provides 3D context that breaks NTL saturation.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Best Model: pretrained_ghsl_surface_vol_channel_huber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Segoe UI"/>
              </a:defRPr>
            </a:pPr>
            <a:r>
              <a:t>0.881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Overall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Highest spatial correlation achieved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0292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Segoe UI"/>
              </a:defRPr>
            </a:pPr>
            <a:r>
              <a:t>2.24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Overall MAE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People per 500m pixel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34640"/>
            <a:ext cx="50292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Segoe UI"/>
              </a:defRPr>
            </a:pPr>
            <a:r>
              <a:t>1.012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Scale Factor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7490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Essentially exact national total (7.45M)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834640"/>
            <a:ext cx="502920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9718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0A5FA"/>
                </a:solidFill>
                <a:latin typeface="Segoe UI"/>
              </a:defRPr>
            </a:pPr>
            <a: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7472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Rural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490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Segoe UI"/>
              </a:defRPr>
            </a:pPr>
            <a:r>
              <a:t>Nearly perfect correlation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Density Breakdown: Rural (&lt;20) MAE=0.93, R=0.958  |  Peri-urban (20-100) MAE=6.71, R=0.889  |  Urban core (&gt;100) MAE=60.65, R=0.339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Segoe UI"/>
              </a:defRPr>
            </a:pPr>
            <a:r>
              <a:t>Live Demo: Streamlit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371600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Segoe UI"/>
              </a:defRPr>
            </a:pPr>
            <a:r>
              <a:t>Interactive web application for region selection, real-time prediction, and explainability.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60A5FA"/>
                </a:solidFill>
                <a:latin typeface="Segoe UI"/>
              </a:defRPr>
            </a:pPr>
            <a:r>
              <a:t>🗺️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Interactive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51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Draw a rectangle over any region in Pakistan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286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60A5FA"/>
                </a:solidFill>
                <a:latin typeface="Segoe UI"/>
              </a:defRPr>
            </a:pPr>
            <a: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286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Real-Time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651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4-channel CNN inference in &lt; 2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60A5FA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474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Data Quality Audit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840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5-dimension scorecard with explanations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4747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60A5FA"/>
                </a:solidFill>
                <a:latin typeface="Segoe UI"/>
              </a:defRPr>
            </a:pPr>
            <a:r>
              <a:t>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474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Grad-CAM Heatmap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840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See which pixels drive the prediction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60A5FA"/>
                </a:solidFill>
                <a:latin typeface="Segoe UI"/>
              </a:defRPr>
            </a:pPr>
            <a:r>
              <a:t>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663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RAG Literature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29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8 academic papers indexed for grounding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Launch:  C:\pakvenv\Scripts\python.exe -m streamlit run app\streamlit_app.py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97280" cy="54864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554480"/>
            <a:ext cx="137160" cy="13716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4630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Segoe UI"/>
              </a:defRPr>
            </a:pPr>
            <a:r>
              <a:t>Fusing temporal NTL with 3D built-up structure yields R = 0.88 — state-of-the-art for Pakistan at 500m resolution.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137160" cy="13716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Segoe UI"/>
              </a:defRPr>
            </a:pPr>
            <a:r>
              <a:t>ImageNet pretraining (+0.24 R) and Huber loss are the biggest performance levers.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00400"/>
            <a:ext cx="137160" cy="13716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1089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Segoe UI"/>
              </a:defRPr>
            </a:pPr>
            <a:r>
              <a:t>GHSL building volume only works when paired with surface context — volume alone confuses the model.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023360"/>
            <a:ext cx="137160" cy="13716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9319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Segoe UI"/>
              </a:defRPr>
            </a:pPr>
            <a:r>
              <a:t>The fully interactive Streamlit app brings the research to life for end users.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Future Work: Stratified CV stability  |  NASA Black Marble NTL  |  OSM road density as 5th channel  |  Transfer to India/Bangladesh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3657600" cy="365760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4572000"/>
            <a:ext cx="3200400" cy="32004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0" y="3017520"/>
            <a:ext cx="1554480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BD5E1"/>
                </a:solidFill>
                <a:latin typeface="Segoe UI"/>
              </a:defRPr>
            </a:pPr>
            <a: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Team: [Author 1  Data Engineering]  |  [Author 2  Model Engineering]  |  [Author 3  Evaluation &amp; Application]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Segoe UI"/>
              </a:defRPr>
            </a:pPr>
            <a:r>
              <a:t>Code: github.com/your-repo  |  Report: PROJECT_REPORT.md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